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JetBrainsMono-bold.fntdata"/><Relationship Id="rId11" Type="http://schemas.openxmlformats.org/officeDocument/2006/relationships/font" Target="fonts/InstrumentSans-regular.fntdata"/><Relationship Id="rId22" Type="http://schemas.openxmlformats.org/officeDocument/2006/relationships/font" Target="fonts/JetBrainsMono-boldItalic.fntdata"/><Relationship Id="rId10" Type="http://schemas.openxmlformats.org/officeDocument/2006/relationships/slide" Target="slides/slide5.xml"/><Relationship Id="rId21" Type="http://schemas.openxmlformats.org/officeDocument/2006/relationships/font" Target="fonts/JetBrainsMono-italic.fntdata"/><Relationship Id="rId13" Type="http://schemas.openxmlformats.org/officeDocument/2006/relationships/font" Target="fonts/InstrumentSans-italic.fntdata"/><Relationship Id="rId12" Type="http://schemas.openxmlformats.org/officeDocument/2006/relationships/font" Target="fonts/Instrument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Tight-regular.fntdata"/><Relationship Id="rId14" Type="http://schemas.openxmlformats.org/officeDocument/2006/relationships/font" Target="fonts/InstrumentSans-boldItalic.fntdata"/><Relationship Id="rId17" Type="http://schemas.openxmlformats.org/officeDocument/2006/relationships/font" Target="fonts/InterTight-italic.fntdata"/><Relationship Id="rId16" Type="http://schemas.openxmlformats.org/officeDocument/2006/relationships/font" Target="fonts/InterTight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JetBrainsMono-regular.fntdata"/><Relationship Id="rId6" Type="http://schemas.openxmlformats.org/officeDocument/2006/relationships/slide" Target="slides/slide1.xml"/><Relationship Id="rId18" Type="http://schemas.openxmlformats.org/officeDocument/2006/relationships/font" Target="fonts/InterTigh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0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05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329184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PAY-PER-VISIT · STELLAR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914400" y="2514600"/>
            <a:ext cx="10972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NATA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ON STELLAR</a:t>
            </a:r>
            <a:endParaRPr/>
          </a:p>
        </p:txBody>
      </p:sp>
      <p:sp>
        <p:nvSpPr>
          <p:cNvPr id="88" name="Google Shape;88;p13"/>
          <p:cNvSpPr/>
          <p:nvPr/>
        </p:nvSpPr>
        <p:spPr>
          <a:xfrm>
            <a:off x="12435840" y="2103120"/>
            <a:ext cx="4937760" cy="2862850"/>
          </a:xfrm>
          <a:custGeom>
            <a:rect b="b" l="l" r="r" t="t"/>
            <a:pathLst>
              <a:path extrusionOk="0" h="2862850" w="4937760">
                <a:moveTo>
                  <a:pt x="0" y="0"/>
                </a:moveTo>
                <a:lnTo>
                  <a:pt x="0" y="1103116"/>
                </a:lnTo>
                <a:lnTo>
                  <a:pt x="2468880" y="2862850"/>
                </a:lnTo>
                <a:lnTo>
                  <a:pt x="4937760" y="1103116"/>
                </a:lnTo>
                <a:lnTo>
                  <a:pt x="4937760" y="0"/>
                </a:lnTo>
                <a:lnTo>
                  <a:pt x="2468880" y="1497086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12435840" y="4151765"/>
            <a:ext cx="1444557" cy="1785998"/>
          </a:xfrm>
          <a:custGeom>
            <a:rect b="b" l="l" r="r" t="t"/>
            <a:pathLst>
              <a:path extrusionOk="0" h="1785998" w="1444557">
                <a:moveTo>
                  <a:pt x="0" y="0"/>
                </a:moveTo>
                <a:lnTo>
                  <a:pt x="0" y="1785998"/>
                </a:lnTo>
                <a:lnTo>
                  <a:pt x="1444557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15929042" y="4151765"/>
            <a:ext cx="1444558" cy="1785998"/>
          </a:xfrm>
          <a:custGeom>
            <a:rect b="b" l="l" r="r" t="t"/>
            <a:pathLst>
              <a:path extrusionOk="0" h="1785998" w="1444558">
                <a:moveTo>
                  <a:pt x="1444558" y="0"/>
                </a:moveTo>
                <a:lnTo>
                  <a:pt x="1444558" y="1785998"/>
                </a:lnTo>
                <a:lnTo>
                  <a:pt x="0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hm-white.png" id="91" name="Google Shape;9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6812280"/>
            <a:ext cx="4721192" cy="82296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guava-white.png" id="93" name="Google Shape;9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5080" y="6967728"/>
            <a:ext cx="2159633" cy="5120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tellar-white.png" id="94" name="Google Shape;94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823960" y="6903720"/>
            <a:ext cx="2483581" cy="621792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05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PMF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01 / 04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SOLUTION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Pay only when a real visit is proven at the counter.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Merchant locks a USDC budget in a Soroban contract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Counter shows a QR that rotates every 20 s, ed25519-signed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Visitor scans with a passkey wallet: paid in seconds, no XLM</a:t>
            </a: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Why it wins: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contract, not our backend, decides who gets paid.</a:t>
            </a:r>
            <a:endParaRPr/>
          </a:p>
        </p:txBody>
      </p:sp>
      <p:sp>
        <p:nvSpPr>
          <p:cNvPr id="115" name="Google Shape;115;p14"/>
          <p:cNvSpPr/>
          <p:nvPr/>
        </p:nvSpPr>
        <p:spPr>
          <a:xfrm>
            <a:off x="12893040" y="4023360"/>
            <a:ext cx="4480560" cy="2597771"/>
          </a:xfrm>
          <a:custGeom>
            <a:rect b="b" l="l" r="r" t="t"/>
            <a:pathLst>
              <a:path extrusionOk="0" h="2597771" w="4480560">
                <a:moveTo>
                  <a:pt x="0" y="0"/>
                </a:moveTo>
                <a:lnTo>
                  <a:pt x="0" y="1000976"/>
                </a:lnTo>
                <a:lnTo>
                  <a:pt x="2240280" y="2597771"/>
                </a:lnTo>
                <a:lnTo>
                  <a:pt x="4480560" y="1000976"/>
                </a:lnTo>
                <a:lnTo>
                  <a:pt x="4480560" y="0"/>
                </a:lnTo>
                <a:lnTo>
                  <a:pt x="2240280" y="1358467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6" name="Google Shape;116;p14"/>
          <p:cNvSpPr/>
          <p:nvPr/>
        </p:nvSpPr>
        <p:spPr>
          <a:xfrm>
            <a:off x="12893040" y="5882315"/>
            <a:ext cx="1310802" cy="1620628"/>
          </a:xfrm>
          <a:custGeom>
            <a:rect b="b" l="l" r="r" t="t"/>
            <a:pathLst>
              <a:path extrusionOk="0" h="1620628" w="1310802">
                <a:moveTo>
                  <a:pt x="0" y="0"/>
                </a:moveTo>
                <a:lnTo>
                  <a:pt x="0" y="1620628"/>
                </a:lnTo>
                <a:lnTo>
                  <a:pt x="1310802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7" name="Google Shape;117;p14"/>
          <p:cNvSpPr/>
          <p:nvPr/>
        </p:nvSpPr>
        <p:spPr>
          <a:xfrm>
            <a:off x="16062797" y="5882315"/>
            <a:ext cx="1310803" cy="1620628"/>
          </a:xfrm>
          <a:custGeom>
            <a:rect b="b" l="l" r="r" t="t"/>
            <a:pathLst>
              <a:path extrusionOk="0" h="1620628" w="1310803">
                <a:moveTo>
                  <a:pt x="1310803" y="0"/>
                </a:moveTo>
                <a:lnTo>
                  <a:pt x="1310803" y="1620628"/>
                </a:lnTo>
                <a:lnTo>
                  <a:pt x="0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8" name="Google Shape;118;p14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9" name="Google Shape;119;p14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0" name="Google Shape;120;p14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23" name="Google Shape;12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05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32" name="Google Shape;132;p15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02 / 04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PROBLEM &amp; PMF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Local marketing cannot prove anyone walked in.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Ads and clicks pay for reach; merchants cannot measure visits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Loyalty is locked in one shop; card cashback is slow and costly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Pays: local merchants and event organizers. Earns: tourists and attendees</a:t>
            </a:r>
            <a:endParaRPr/>
          </a:p>
        </p:txBody>
      </p:sp>
      <p:sp>
        <p:nvSpPr>
          <p:cNvPr id="136" name="Google Shape;136;p15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Why now: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stablecoins and passkeys make instant, gasless cashback real.</a:t>
            </a:r>
            <a:endParaRPr/>
          </a:p>
        </p:txBody>
      </p:sp>
      <p:sp>
        <p:nvSpPr>
          <p:cNvPr id="137" name="Google Shape;137;p15"/>
          <p:cNvSpPr/>
          <p:nvPr/>
        </p:nvSpPr>
        <p:spPr>
          <a:xfrm>
            <a:off x="12893040" y="4023360"/>
            <a:ext cx="4480560" cy="2597771"/>
          </a:xfrm>
          <a:custGeom>
            <a:rect b="b" l="l" r="r" t="t"/>
            <a:pathLst>
              <a:path extrusionOk="0" h="2597771" w="4480560">
                <a:moveTo>
                  <a:pt x="0" y="0"/>
                </a:moveTo>
                <a:lnTo>
                  <a:pt x="0" y="1000976"/>
                </a:lnTo>
                <a:lnTo>
                  <a:pt x="2240280" y="2597771"/>
                </a:lnTo>
                <a:lnTo>
                  <a:pt x="4480560" y="1000976"/>
                </a:lnTo>
                <a:lnTo>
                  <a:pt x="4480560" y="0"/>
                </a:lnTo>
                <a:lnTo>
                  <a:pt x="2240280" y="1358467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15"/>
          <p:cNvSpPr/>
          <p:nvPr/>
        </p:nvSpPr>
        <p:spPr>
          <a:xfrm>
            <a:off x="12893040" y="5882315"/>
            <a:ext cx="1310802" cy="1620628"/>
          </a:xfrm>
          <a:custGeom>
            <a:rect b="b" l="l" r="r" t="t"/>
            <a:pathLst>
              <a:path extrusionOk="0" h="1620628" w="1310802">
                <a:moveTo>
                  <a:pt x="0" y="0"/>
                </a:moveTo>
                <a:lnTo>
                  <a:pt x="0" y="1620628"/>
                </a:lnTo>
                <a:lnTo>
                  <a:pt x="1310802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16062797" y="5882315"/>
            <a:ext cx="1310803" cy="1620628"/>
          </a:xfrm>
          <a:custGeom>
            <a:rect b="b" l="l" r="r" t="t"/>
            <a:pathLst>
              <a:path extrusionOk="0" h="1620628" w="1310803">
                <a:moveTo>
                  <a:pt x="1310803" y="0"/>
                </a:moveTo>
                <a:lnTo>
                  <a:pt x="1310803" y="1620628"/>
                </a:lnTo>
                <a:lnTo>
                  <a:pt x="0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15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1" name="Google Shape;141;p15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2" name="Google Shape;142;p15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45" name="Google Shape;14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05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03 / 04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TECHNICAL WORKFLOW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Funds and rules live on Stellar, not on our server.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Soroban escrow: signature, expiry, one-time nonce, one claim per wallet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Passkey smart wallet + sponsored fees: visitors never need XLM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Next.js PWA + Soroban RPC events power the merchant dashboard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TODO: contract ID, token ID, tx links, live URL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Proven on testnet: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campaign created, real claim accepted, reused QR rejected.</a:t>
            </a:r>
            <a:endParaRPr/>
          </a:p>
        </p:txBody>
      </p:sp>
      <p:sp>
        <p:nvSpPr>
          <p:cNvPr id="159" name="Google Shape;159;p16"/>
          <p:cNvSpPr/>
          <p:nvPr/>
        </p:nvSpPr>
        <p:spPr>
          <a:xfrm>
            <a:off x="12893040" y="4023360"/>
            <a:ext cx="4480560" cy="2597771"/>
          </a:xfrm>
          <a:custGeom>
            <a:rect b="b" l="l" r="r" t="t"/>
            <a:pathLst>
              <a:path extrusionOk="0" h="2597771" w="4480560">
                <a:moveTo>
                  <a:pt x="0" y="0"/>
                </a:moveTo>
                <a:lnTo>
                  <a:pt x="0" y="1000976"/>
                </a:lnTo>
                <a:lnTo>
                  <a:pt x="2240280" y="2597771"/>
                </a:lnTo>
                <a:lnTo>
                  <a:pt x="4480560" y="1000976"/>
                </a:lnTo>
                <a:lnTo>
                  <a:pt x="4480560" y="0"/>
                </a:lnTo>
                <a:lnTo>
                  <a:pt x="2240280" y="1358467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0" name="Google Shape;160;p16"/>
          <p:cNvSpPr/>
          <p:nvPr/>
        </p:nvSpPr>
        <p:spPr>
          <a:xfrm>
            <a:off x="12893040" y="5882315"/>
            <a:ext cx="1310802" cy="1620628"/>
          </a:xfrm>
          <a:custGeom>
            <a:rect b="b" l="l" r="r" t="t"/>
            <a:pathLst>
              <a:path extrusionOk="0" h="1620628" w="1310802">
                <a:moveTo>
                  <a:pt x="0" y="0"/>
                </a:moveTo>
                <a:lnTo>
                  <a:pt x="0" y="1620628"/>
                </a:lnTo>
                <a:lnTo>
                  <a:pt x="1310802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1" name="Google Shape;161;p16"/>
          <p:cNvSpPr/>
          <p:nvPr/>
        </p:nvSpPr>
        <p:spPr>
          <a:xfrm>
            <a:off x="16062797" y="5882315"/>
            <a:ext cx="1310803" cy="1620628"/>
          </a:xfrm>
          <a:custGeom>
            <a:rect b="b" l="l" r="r" t="t"/>
            <a:pathLst>
              <a:path extrusionOk="0" h="1620628" w="1310803">
                <a:moveTo>
                  <a:pt x="1310803" y="0"/>
                </a:moveTo>
                <a:lnTo>
                  <a:pt x="1310803" y="1620628"/>
                </a:lnTo>
                <a:lnTo>
                  <a:pt x="0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16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3" name="Google Shape;163;p16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4" name="Google Shape;164;p16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7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05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76" name="Google Shape;176;p17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04 / 04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TEAM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codingsh, blockchain developer and white hat.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Smart contracts, EVM security, cross-chain bridges, dApp frontends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Solidity, Rust, TypeScript, Zig; ENS codingsh.eth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Hackathon wins in 2025: 1st at Reown, Talent Protocol and Para</a:t>
            </a:r>
            <a:endParaRPr/>
          </a:p>
        </p:txBody>
      </p:sp>
      <p:sp>
        <p:nvSpPr>
          <p:cNvPr id="180" name="Google Shape;180;p17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Why us: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contract-security builder shipped contract, wallet and app.</a:t>
            </a:r>
            <a:endParaRPr/>
          </a:p>
        </p:txBody>
      </p:sp>
      <p:sp>
        <p:nvSpPr>
          <p:cNvPr id="181" name="Google Shape;181;p17"/>
          <p:cNvSpPr/>
          <p:nvPr/>
        </p:nvSpPr>
        <p:spPr>
          <a:xfrm>
            <a:off x="12893040" y="4023360"/>
            <a:ext cx="4480560" cy="2597771"/>
          </a:xfrm>
          <a:custGeom>
            <a:rect b="b" l="l" r="r" t="t"/>
            <a:pathLst>
              <a:path extrusionOk="0" h="2597771" w="4480560">
                <a:moveTo>
                  <a:pt x="0" y="0"/>
                </a:moveTo>
                <a:lnTo>
                  <a:pt x="0" y="1000976"/>
                </a:lnTo>
                <a:lnTo>
                  <a:pt x="2240280" y="2597771"/>
                </a:lnTo>
                <a:lnTo>
                  <a:pt x="4480560" y="1000976"/>
                </a:lnTo>
                <a:lnTo>
                  <a:pt x="4480560" y="0"/>
                </a:lnTo>
                <a:lnTo>
                  <a:pt x="2240280" y="1358467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17"/>
          <p:cNvSpPr/>
          <p:nvPr/>
        </p:nvSpPr>
        <p:spPr>
          <a:xfrm>
            <a:off x="12893040" y="5882315"/>
            <a:ext cx="1310802" cy="1620628"/>
          </a:xfrm>
          <a:custGeom>
            <a:rect b="b" l="l" r="r" t="t"/>
            <a:pathLst>
              <a:path extrusionOk="0" h="1620628" w="1310802">
                <a:moveTo>
                  <a:pt x="0" y="0"/>
                </a:moveTo>
                <a:lnTo>
                  <a:pt x="0" y="1620628"/>
                </a:lnTo>
                <a:lnTo>
                  <a:pt x="1310802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17"/>
          <p:cNvSpPr/>
          <p:nvPr/>
        </p:nvSpPr>
        <p:spPr>
          <a:xfrm>
            <a:off x="16062797" y="5882315"/>
            <a:ext cx="1310803" cy="1620628"/>
          </a:xfrm>
          <a:custGeom>
            <a:rect b="b" l="l" r="r" t="t"/>
            <a:pathLst>
              <a:path extrusionOk="0" h="1620628" w="1310803">
                <a:moveTo>
                  <a:pt x="1310803" y="0"/>
                </a:moveTo>
                <a:lnTo>
                  <a:pt x="1310803" y="1620628"/>
                </a:lnTo>
                <a:lnTo>
                  <a:pt x="0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4" name="Google Shape;184;p17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5" name="Google Shape;185;p17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17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7" name="Google Shape;187;p17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17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89" name="Google Shape;18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