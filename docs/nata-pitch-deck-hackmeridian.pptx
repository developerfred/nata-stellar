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image/jpeg" Extension="jp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10287000" cx="18288000"/>
  <p:notesSz cx="6858000" cy="9144000"/>
  <p:embeddedFontLst>
    <p:embeddedFont>
      <p:font typeface="Instrument Sans"/>
      <p:regular r:id="rId11"/>
      <p:bold r:id="rId12"/>
      <p:italic r:id="rId13"/>
      <p:boldItalic r:id="rId14"/>
    </p:embeddedFont>
    <p:embeddedFont>
      <p:font typeface="Inter Tight"/>
      <p:regular r:id="rId15"/>
      <p:bold r:id="rId16"/>
      <p:italic r:id="rId17"/>
      <p:boldItalic r:id="rId18"/>
    </p:embeddedFon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JetBrainsMono-bold.fntdata"/><Relationship Id="rId11" Type="http://schemas.openxmlformats.org/officeDocument/2006/relationships/font" Target="fonts/InstrumentSans-regular.fntdata"/><Relationship Id="rId22" Type="http://schemas.openxmlformats.org/officeDocument/2006/relationships/font" Target="fonts/JetBrainsMono-boldItalic.fntdata"/><Relationship Id="rId10" Type="http://schemas.openxmlformats.org/officeDocument/2006/relationships/slide" Target="slides/slide5.xml"/><Relationship Id="rId21" Type="http://schemas.openxmlformats.org/officeDocument/2006/relationships/font" Target="fonts/JetBrainsMono-italic.fntdata"/><Relationship Id="rId13" Type="http://schemas.openxmlformats.org/officeDocument/2006/relationships/font" Target="fonts/InstrumentSans-italic.fntdata"/><Relationship Id="rId12" Type="http://schemas.openxmlformats.org/officeDocument/2006/relationships/font" Target="fonts/InstrumentSans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InterTight-regular.fntdata"/><Relationship Id="rId14" Type="http://schemas.openxmlformats.org/officeDocument/2006/relationships/font" Target="fonts/InstrumentSans-boldItalic.fntdata"/><Relationship Id="rId17" Type="http://schemas.openxmlformats.org/officeDocument/2006/relationships/font" Target="fonts/InterTight-italic.fntdata"/><Relationship Id="rId16" Type="http://schemas.openxmlformats.org/officeDocument/2006/relationships/font" Target="fonts/InterTight-bold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JetBrainsMono-regular.fntdata"/><Relationship Id="rId6" Type="http://schemas.openxmlformats.org/officeDocument/2006/relationships/slide" Target="slides/slide1.xml"/><Relationship Id="rId18" Type="http://schemas.openxmlformats.org/officeDocument/2006/relationships/font" Target="fonts/InterTight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Inter Tight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 b="0" i="0" sz="4400" u="none" cap="none" strike="noStrike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99" Type="http://schemas.openxmlformats.org/officeDocument/2006/relationships/image" Target="../media/team-codingsh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0F0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914400" y="777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058400" y="777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01 / 05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914400" y="1600200"/>
            <a:ext cx="3291840" cy="475488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PAY-PER-VISIT · STELLAR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914400" y="2514600"/>
            <a:ext cx="109728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800" u="none" cap="none" strike="noStrike">
                <a:solidFill>
                  <a:srgbClr val="FDDA24"/>
                </a:solidFill>
                <a:latin typeface="Inter Tight"/>
                <a:ea typeface="Inter Tight"/>
                <a:cs typeface="Inter Tight"/>
                <a:sym typeface="Inter Tight"/>
              </a:rPr>
              <a:t>NATA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800" u="none" cap="none" strike="noStrike">
                <a:solidFill>
                  <a:srgbClr val="FDDA24"/>
                </a:solidFill>
                <a:latin typeface="Inter Tight"/>
                <a:ea typeface="Inter Tight"/>
                <a:cs typeface="Inter Tight"/>
                <a:sym typeface="Inter Tight"/>
              </a:rPr>
              <a:t>ON STELLAR</a:t>
            </a:r>
            <a:endParaRPr/>
          </a:p>
        </p:txBody>
      </p:sp>
      <p:sp>
        <p:nvSpPr>
          <p:cNvPr id="88" name="Google Shape;88;p13"/>
          <p:cNvSpPr/>
          <p:nvPr/>
        </p:nvSpPr>
        <p:spPr>
          <a:xfrm>
            <a:off x="12435840" y="2103120"/>
            <a:ext cx="4937760" cy="2862850"/>
          </a:xfrm>
          <a:custGeom>
            <a:rect b="b" l="l" r="r" t="t"/>
            <a:pathLst>
              <a:path extrusionOk="0" h="2862850" w="4937760">
                <a:moveTo>
                  <a:pt x="0" y="0"/>
                </a:moveTo>
                <a:lnTo>
                  <a:pt x="0" y="1103116"/>
                </a:lnTo>
                <a:lnTo>
                  <a:pt x="2468880" y="2862850"/>
                </a:lnTo>
                <a:lnTo>
                  <a:pt x="4937760" y="1103116"/>
                </a:lnTo>
                <a:lnTo>
                  <a:pt x="4937760" y="0"/>
                </a:lnTo>
                <a:lnTo>
                  <a:pt x="2468880" y="1497086"/>
                </a:lnTo>
                <a:close/>
              </a:path>
            </a:pathLst>
          </a:custGeom>
          <a:solidFill>
            <a:srgbClr val="FDDA24">
              <a:alpha val="21961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89" name="Google Shape;89;p13"/>
          <p:cNvSpPr/>
          <p:nvPr/>
        </p:nvSpPr>
        <p:spPr>
          <a:xfrm>
            <a:off x="12435840" y="4151765"/>
            <a:ext cx="1444557" cy="1785998"/>
          </a:xfrm>
          <a:custGeom>
            <a:rect b="b" l="l" r="r" t="t"/>
            <a:pathLst>
              <a:path extrusionOk="0" h="1785998" w="1444557">
                <a:moveTo>
                  <a:pt x="0" y="0"/>
                </a:moveTo>
                <a:lnTo>
                  <a:pt x="0" y="1785998"/>
                </a:lnTo>
                <a:lnTo>
                  <a:pt x="1444557" y="866734"/>
                </a:lnTo>
                <a:close/>
              </a:path>
            </a:pathLst>
          </a:custGeom>
          <a:solidFill>
            <a:srgbClr val="FDDA24">
              <a:alpha val="21961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0" name="Google Shape;90;p13"/>
          <p:cNvSpPr/>
          <p:nvPr/>
        </p:nvSpPr>
        <p:spPr>
          <a:xfrm>
            <a:off x="15929042" y="4151765"/>
            <a:ext cx="1444558" cy="1785998"/>
          </a:xfrm>
          <a:custGeom>
            <a:rect b="b" l="l" r="r" t="t"/>
            <a:pathLst>
              <a:path extrusionOk="0" h="1785998" w="1444558">
                <a:moveTo>
                  <a:pt x="1444558" y="0"/>
                </a:moveTo>
                <a:lnTo>
                  <a:pt x="1444558" y="1785998"/>
                </a:lnTo>
                <a:lnTo>
                  <a:pt x="0" y="866734"/>
                </a:lnTo>
                <a:close/>
              </a:path>
            </a:pathLst>
          </a:custGeom>
          <a:solidFill>
            <a:srgbClr val="FDDA24">
              <a:alpha val="21961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descr="hm-white.png" id="91" name="Google Shape;91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4400" y="6812280"/>
            <a:ext cx="4721192" cy="82296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3"/>
          <p:cNvSpPr/>
          <p:nvPr/>
        </p:nvSpPr>
        <p:spPr>
          <a:xfrm>
            <a:off x="5989320" y="6766560"/>
            <a:ext cx="18288" cy="9144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descr="guava-white.png" id="93" name="Google Shape;93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55080" y="6967728"/>
            <a:ext cx="2159633" cy="51206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tellar-white.png" id="94" name="Google Shape;94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823960" y="6903720"/>
            <a:ext cx="2483581" cy="621792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3"/>
          <p:cNvSpPr/>
          <p:nvPr/>
        </p:nvSpPr>
        <p:spPr>
          <a:xfrm rot="5400000">
            <a:off x="14904720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13"/>
          <p:cNvSpPr/>
          <p:nvPr/>
        </p:nvSpPr>
        <p:spPr>
          <a:xfrm rot="5400000">
            <a:off x="15599664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FDDA24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7" name="Google Shape;97;p13"/>
          <p:cNvSpPr/>
          <p:nvPr/>
        </p:nvSpPr>
        <p:spPr>
          <a:xfrm rot="5400000">
            <a:off x="16294608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FDDA24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14400" y="8641080"/>
            <a:ext cx="16459200" cy="1371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914400" y="8961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October 2026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4008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#HackMeridian26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18872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7A7A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02 / 05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PMF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2651760" cy="475488"/>
          </a:xfrm>
          <a:prstGeom prst="roundRect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0F0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PITCH STEP 01 / 04</a:t>
            </a:r>
            <a:endParaRPr/>
          </a:p>
        </p:txBody>
      </p:sp>
      <p:sp>
        <p:nvSpPr>
          <p:cNvPr id="111" name="Google Shape;111;p14"/>
          <p:cNvSpPr txBox="1"/>
          <p:nvPr/>
        </p:nvSpPr>
        <p:spPr>
          <a:xfrm>
            <a:off x="914400" y="210312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0" u="none" cap="none" strike="noStrike">
                <a:solidFill>
                  <a:srgbClr val="0F0F0F"/>
                </a:solidFill>
                <a:latin typeface="Inter Tight"/>
                <a:ea typeface="Inter Tight"/>
                <a:cs typeface="Inter Tight"/>
                <a:sym typeface="Inter Tight"/>
              </a:rPr>
              <a:t>THE SOLUTION</a:t>
            </a:r>
            <a:endParaRPr/>
          </a:p>
        </p:txBody>
      </p:sp>
      <p:sp>
        <p:nvSpPr>
          <p:cNvPr id="112" name="Google Shape;112;p14"/>
          <p:cNvSpPr txBox="1"/>
          <p:nvPr/>
        </p:nvSpPr>
        <p:spPr>
          <a:xfrm>
            <a:off x="914400" y="393192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Pay only when a real visit is proven at the counter.</a:t>
            </a:r>
            <a:endParaRPr/>
          </a:p>
        </p:txBody>
      </p:sp>
      <p:sp>
        <p:nvSpPr>
          <p:cNvPr id="113" name="Google Shape;113;p14"/>
          <p:cNvSpPr txBox="1"/>
          <p:nvPr/>
        </p:nvSpPr>
        <p:spPr>
          <a:xfrm>
            <a:off x="914400" y="4709160"/>
            <a:ext cx="1161288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4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Merchant locks a USDC budget in a Soroban contract</a:t>
            </a:r>
            <a:endParaRPr/>
          </a:p>
          <a:p>
            <a:pPr indent="-411480" lvl="0" marL="411480" marR="0" rtl="0" algn="l">
              <a:spcBef>
                <a:spcPts val="100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4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Counter shows a QR that rotates every 20 s, ed25519-signed</a:t>
            </a:r>
            <a:endParaRPr/>
          </a:p>
          <a:p>
            <a:pPr indent="-411480" lvl="0" marL="411480" marR="0" rtl="0" algn="l">
              <a:spcBef>
                <a:spcPts val="100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4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Visitor scans with a passkey wallet: paid in seconds, no XLM</a:t>
            </a:r>
            <a:endParaRPr/>
          </a:p>
        </p:txBody>
      </p:sp>
      <p:sp>
        <p:nvSpPr>
          <p:cNvPr id="114" name="Google Shape;114;p14"/>
          <p:cNvSpPr/>
          <p:nvPr/>
        </p:nvSpPr>
        <p:spPr>
          <a:xfrm>
            <a:off x="914400" y="7086600"/>
            <a:ext cx="10789920" cy="1051560"/>
          </a:xfrm>
          <a:prstGeom prst="roundRect">
            <a:avLst>
              <a:gd fmla="val 22000" name="adj"/>
            </a:avLst>
          </a:prstGeom>
          <a:solidFill>
            <a:srgbClr val="FFFFFF"/>
          </a:solidFill>
          <a:ln cap="flat" cmpd="sng" w="3810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365750" spcFirstLastPara="1" rIns="365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👉 Why it wins: </a:t>
            </a:r>
            <a:r>
              <a:rPr b="0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contract, not our backend, decides who gets paid.</a:t>
            </a:r>
            <a:endParaRPr/>
          </a:p>
        </p:txBody>
      </p:sp>
      <p:sp>
        <p:nvSpPr>
          <p:cNvPr id="115" name="Google Shape;115;p14"/>
          <p:cNvSpPr/>
          <p:nvPr/>
        </p:nvSpPr>
        <p:spPr>
          <a:xfrm>
            <a:off x="12893040" y="4023360"/>
            <a:ext cx="4480560" cy="2597771"/>
          </a:xfrm>
          <a:custGeom>
            <a:rect b="b" l="l" r="r" t="t"/>
            <a:pathLst>
              <a:path extrusionOk="0" h="2597771" w="4480560">
                <a:moveTo>
                  <a:pt x="0" y="0"/>
                </a:moveTo>
                <a:lnTo>
                  <a:pt x="0" y="1000976"/>
                </a:lnTo>
                <a:lnTo>
                  <a:pt x="2240280" y="2597771"/>
                </a:lnTo>
                <a:lnTo>
                  <a:pt x="4480560" y="1000976"/>
                </a:lnTo>
                <a:lnTo>
                  <a:pt x="4480560" y="0"/>
                </a:lnTo>
                <a:lnTo>
                  <a:pt x="2240280" y="1358467"/>
                </a:lnTo>
                <a:close/>
              </a:path>
            </a:pathLst>
          </a:custGeom>
          <a:solidFill>
            <a:srgbClr val="0F0F0F">
              <a:alpha val="7059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16" name="Google Shape;116;p14"/>
          <p:cNvSpPr/>
          <p:nvPr/>
        </p:nvSpPr>
        <p:spPr>
          <a:xfrm>
            <a:off x="12893040" y="5882315"/>
            <a:ext cx="1310802" cy="1620628"/>
          </a:xfrm>
          <a:custGeom>
            <a:rect b="b" l="l" r="r" t="t"/>
            <a:pathLst>
              <a:path extrusionOk="0" h="1620628" w="1310802">
                <a:moveTo>
                  <a:pt x="0" y="0"/>
                </a:moveTo>
                <a:lnTo>
                  <a:pt x="0" y="1620628"/>
                </a:lnTo>
                <a:lnTo>
                  <a:pt x="1310802" y="786482"/>
                </a:lnTo>
                <a:close/>
              </a:path>
            </a:pathLst>
          </a:custGeom>
          <a:solidFill>
            <a:srgbClr val="0F0F0F">
              <a:alpha val="7059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17" name="Google Shape;117;p14"/>
          <p:cNvSpPr/>
          <p:nvPr/>
        </p:nvSpPr>
        <p:spPr>
          <a:xfrm>
            <a:off x="16062797" y="5882315"/>
            <a:ext cx="1310803" cy="1620628"/>
          </a:xfrm>
          <a:custGeom>
            <a:rect b="b" l="l" r="r" t="t"/>
            <a:pathLst>
              <a:path extrusionOk="0" h="1620628" w="1310803">
                <a:moveTo>
                  <a:pt x="1310803" y="0"/>
                </a:moveTo>
                <a:lnTo>
                  <a:pt x="1310803" y="1620628"/>
                </a:lnTo>
                <a:lnTo>
                  <a:pt x="0" y="786482"/>
                </a:lnTo>
                <a:close/>
              </a:path>
            </a:pathLst>
          </a:custGeom>
          <a:solidFill>
            <a:srgbClr val="0F0F0F">
              <a:alpha val="7059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18" name="Google Shape;118;p14"/>
          <p:cNvSpPr/>
          <p:nvPr/>
        </p:nvSpPr>
        <p:spPr>
          <a:xfrm rot="5400000">
            <a:off x="15133320" y="7498079"/>
            <a:ext cx="502920" cy="502920"/>
          </a:xfrm>
          <a:prstGeom prst="triangle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19" name="Google Shape;119;p14"/>
          <p:cNvSpPr/>
          <p:nvPr/>
        </p:nvSpPr>
        <p:spPr>
          <a:xfrm rot="5400000">
            <a:off x="15611094" y="7498079"/>
            <a:ext cx="502920" cy="502920"/>
          </a:xfrm>
          <a:prstGeom prst="triangle">
            <a:avLst>
              <a:gd fmla="val 50000" name="adj"/>
            </a:avLst>
          </a:prstGeom>
          <a:solidFill>
            <a:srgbClr val="FDDA24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0" name="Google Shape;120;p14"/>
          <p:cNvSpPr/>
          <p:nvPr/>
        </p:nvSpPr>
        <p:spPr>
          <a:xfrm rot="5400000">
            <a:off x="16088867" y="7498079"/>
            <a:ext cx="502920" cy="502920"/>
          </a:xfrm>
          <a:prstGeom prst="triangle">
            <a:avLst>
              <a:gd fmla="val 50000" name="adj"/>
            </a:avLst>
          </a:prstGeom>
          <a:solidFill>
            <a:srgbClr val="FDDA24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descr="hm-black.png" id="123" name="Google Shape;12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859000" y="9171432"/>
            <a:ext cx="2517969" cy="4389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5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9" name="Google Shape;129;p15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03 / 05</a:t>
            </a:r>
            <a:endParaRPr/>
          </a:p>
        </p:txBody>
      </p:sp>
      <p:sp>
        <p:nvSpPr>
          <p:cNvPr id="130" name="Google Shape;130;p15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31" name="Google Shape;131;p15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TECHNICAL WORKFLOW</a:t>
            </a:r>
            <a:endParaRPr/>
          </a:p>
        </p:txBody>
      </p:sp>
      <p:sp>
        <p:nvSpPr>
          <p:cNvPr id="132" name="Google Shape;132;p15"/>
          <p:cNvSpPr/>
          <p:nvPr/>
        </p:nvSpPr>
        <p:spPr>
          <a:xfrm>
            <a:off x="914400" y="1417320"/>
            <a:ext cx="2651760" cy="475488"/>
          </a:xfrm>
          <a:prstGeom prst="roundRect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0F0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PITCH STEP 02 / 04</a:t>
            </a:r>
            <a:endParaRPr/>
          </a:p>
        </p:txBody>
      </p:sp>
      <p:sp>
        <p:nvSpPr>
          <p:cNvPr id="133" name="Google Shape;133;p15"/>
          <p:cNvSpPr txBox="1"/>
          <p:nvPr/>
        </p:nvSpPr>
        <p:spPr>
          <a:xfrm>
            <a:off x="914400" y="210312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0" u="none" cap="none" strike="noStrike">
                <a:solidFill>
                  <a:srgbClr val="0F0F0F"/>
                </a:solidFill>
                <a:latin typeface="Inter Tight"/>
                <a:ea typeface="Inter Tight"/>
                <a:cs typeface="Inter Tight"/>
                <a:sym typeface="Inter Tight"/>
              </a:rPr>
              <a:t>PROBLEM &amp; PMF</a:t>
            </a:r>
            <a:endParaRPr/>
          </a:p>
        </p:txBody>
      </p:sp>
      <p:sp>
        <p:nvSpPr>
          <p:cNvPr id="134" name="Google Shape;134;p15"/>
          <p:cNvSpPr txBox="1"/>
          <p:nvPr/>
        </p:nvSpPr>
        <p:spPr>
          <a:xfrm>
            <a:off x="914400" y="393192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Local marketing cannot prove anyone walked in.</a:t>
            </a:r>
            <a:endParaRPr/>
          </a:p>
        </p:txBody>
      </p:sp>
      <p:sp>
        <p:nvSpPr>
          <p:cNvPr id="135" name="Google Shape;135;p15"/>
          <p:cNvSpPr txBox="1"/>
          <p:nvPr/>
        </p:nvSpPr>
        <p:spPr>
          <a:xfrm>
            <a:off x="914400" y="4709160"/>
            <a:ext cx="1161288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4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Ads and clicks pay for reach; merchants cannot measure visits</a:t>
            </a:r>
            <a:endParaRPr/>
          </a:p>
          <a:p>
            <a:pPr indent="-411480" lvl="0" marL="411480" marR="0" rtl="0" algn="l">
              <a:spcBef>
                <a:spcPts val="100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4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Loyalty is locked in one shop; card cashback is slow and costly</a:t>
            </a:r>
            <a:endParaRPr/>
          </a:p>
          <a:p>
            <a:pPr indent="-411480" lvl="0" marL="411480" marR="0" rtl="0" algn="l">
              <a:spcBef>
                <a:spcPts val="100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4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Pays: local merchants and event organizers. Earns: tourists and attendees</a:t>
            </a:r>
            <a:endParaRPr/>
          </a:p>
        </p:txBody>
      </p:sp>
      <p:sp>
        <p:nvSpPr>
          <p:cNvPr id="136" name="Google Shape;136;p15"/>
          <p:cNvSpPr/>
          <p:nvPr/>
        </p:nvSpPr>
        <p:spPr>
          <a:xfrm>
            <a:off x="914400" y="7086600"/>
            <a:ext cx="10789920" cy="1051560"/>
          </a:xfrm>
          <a:prstGeom prst="roundRect">
            <a:avLst>
              <a:gd fmla="val 22000" name="adj"/>
            </a:avLst>
          </a:prstGeom>
          <a:solidFill>
            <a:srgbClr val="FFFFFF"/>
          </a:solidFill>
          <a:ln cap="flat" cmpd="sng" w="3810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365750" spcFirstLastPara="1" rIns="365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👉 Why now: </a:t>
            </a:r>
            <a:r>
              <a:rPr b="0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stablecoins and passkeys make instant, gasless cashback real.</a:t>
            </a:r>
            <a:endParaRPr/>
          </a:p>
        </p:txBody>
      </p:sp>
      <p:sp>
        <p:nvSpPr>
          <p:cNvPr id="137" name="Google Shape;137;p15"/>
          <p:cNvSpPr/>
          <p:nvPr/>
        </p:nvSpPr>
        <p:spPr>
          <a:xfrm>
            <a:off x="12893040" y="4023360"/>
            <a:ext cx="4480560" cy="2597771"/>
          </a:xfrm>
          <a:custGeom>
            <a:rect b="b" l="l" r="r" t="t"/>
            <a:pathLst>
              <a:path extrusionOk="0" h="2597771" w="4480560">
                <a:moveTo>
                  <a:pt x="0" y="0"/>
                </a:moveTo>
                <a:lnTo>
                  <a:pt x="0" y="1000976"/>
                </a:lnTo>
                <a:lnTo>
                  <a:pt x="2240280" y="2597771"/>
                </a:lnTo>
                <a:lnTo>
                  <a:pt x="4480560" y="1000976"/>
                </a:lnTo>
                <a:lnTo>
                  <a:pt x="4480560" y="0"/>
                </a:lnTo>
                <a:lnTo>
                  <a:pt x="2240280" y="1358467"/>
                </a:lnTo>
                <a:close/>
              </a:path>
            </a:pathLst>
          </a:custGeom>
          <a:solidFill>
            <a:srgbClr val="0F0F0F">
              <a:alpha val="7059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8" name="Google Shape;138;p15"/>
          <p:cNvSpPr/>
          <p:nvPr/>
        </p:nvSpPr>
        <p:spPr>
          <a:xfrm>
            <a:off x="12893040" y="5882315"/>
            <a:ext cx="1310802" cy="1620628"/>
          </a:xfrm>
          <a:custGeom>
            <a:rect b="b" l="l" r="r" t="t"/>
            <a:pathLst>
              <a:path extrusionOk="0" h="1620628" w="1310802">
                <a:moveTo>
                  <a:pt x="0" y="0"/>
                </a:moveTo>
                <a:lnTo>
                  <a:pt x="0" y="1620628"/>
                </a:lnTo>
                <a:lnTo>
                  <a:pt x="1310802" y="786482"/>
                </a:lnTo>
                <a:close/>
              </a:path>
            </a:pathLst>
          </a:custGeom>
          <a:solidFill>
            <a:srgbClr val="0F0F0F">
              <a:alpha val="7059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9" name="Google Shape;139;p15"/>
          <p:cNvSpPr/>
          <p:nvPr/>
        </p:nvSpPr>
        <p:spPr>
          <a:xfrm>
            <a:off x="16062797" y="5882315"/>
            <a:ext cx="1310803" cy="1620628"/>
          </a:xfrm>
          <a:custGeom>
            <a:rect b="b" l="l" r="r" t="t"/>
            <a:pathLst>
              <a:path extrusionOk="0" h="1620628" w="1310803">
                <a:moveTo>
                  <a:pt x="1310803" y="0"/>
                </a:moveTo>
                <a:lnTo>
                  <a:pt x="1310803" y="1620628"/>
                </a:lnTo>
                <a:lnTo>
                  <a:pt x="0" y="786482"/>
                </a:lnTo>
                <a:close/>
              </a:path>
            </a:pathLst>
          </a:custGeom>
          <a:solidFill>
            <a:srgbClr val="0F0F0F">
              <a:alpha val="7059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0" name="Google Shape;140;p15"/>
          <p:cNvSpPr/>
          <p:nvPr/>
        </p:nvSpPr>
        <p:spPr>
          <a:xfrm rot="5400000">
            <a:off x="15133320" y="7498079"/>
            <a:ext cx="502920" cy="502920"/>
          </a:xfrm>
          <a:prstGeom prst="triangle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1" name="Google Shape;141;p15"/>
          <p:cNvSpPr/>
          <p:nvPr/>
        </p:nvSpPr>
        <p:spPr>
          <a:xfrm rot="5400000">
            <a:off x="15611094" y="7498079"/>
            <a:ext cx="502920" cy="502920"/>
          </a:xfrm>
          <a:prstGeom prst="triangle">
            <a:avLst>
              <a:gd fmla="val 50000" name="adj"/>
            </a:avLst>
          </a:prstGeom>
          <a:solidFill>
            <a:srgbClr val="FDDA24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2" name="Google Shape;142;p15"/>
          <p:cNvSpPr/>
          <p:nvPr/>
        </p:nvSpPr>
        <p:spPr>
          <a:xfrm rot="5400000">
            <a:off x="16088867" y="7498079"/>
            <a:ext cx="502920" cy="502920"/>
          </a:xfrm>
          <a:prstGeom prst="triangle">
            <a:avLst>
              <a:gd fmla="val 50000" name="adj"/>
            </a:avLst>
          </a:prstGeom>
          <a:solidFill>
            <a:srgbClr val="FDDA24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3" name="Google Shape;143;p15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4" name="Google Shape;144;p15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descr="hm-black.png" id="145" name="Google Shape;145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859000" y="9171432"/>
            <a:ext cx="2517969" cy="4389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6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1" name="Google Shape;151;p16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04 / 05</a:t>
            </a:r>
            <a:endParaRPr/>
          </a:p>
        </p:txBody>
      </p:sp>
      <p:sp>
        <p:nvSpPr>
          <p:cNvPr id="152" name="Google Shape;152;p16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53" name="Google Shape;153;p16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TEAM</a:t>
            </a:r>
            <a:endParaRPr/>
          </a:p>
        </p:txBody>
      </p:sp>
      <p:sp>
        <p:nvSpPr>
          <p:cNvPr id="154" name="Google Shape;154;p16"/>
          <p:cNvSpPr/>
          <p:nvPr/>
        </p:nvSpPr>
        <p:spPr>
          <a:xfrm>
            <a:off x="914400" y="1417320"/>
            <a:ext cx="2651760" cy="475488"/>
          </a:xfrm>
          <a:prstGeom prst="roundRect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0F0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PITCH STEP 03 / 04</a:t>
            </a:r>
            <a:endParaRPr/>
          </a:p>
        </p:txBody>
      </p:sp>
      <p:sp>
        <p:nvSpPr>
          <p:cNvPr id="155" name="Google Shape;155;p16"/>
          <p:cNvSpPr txBox="1"/>
          <p:nvPr/>
        </p:nvSpPr>
        <p:spPr>
          <a:xfrm>
            <a:off x="914400" y="210312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0" u="none" cap="none" strike="noStrike">
                <a:solidFill>
                  <a:srgbClr val="0F0F0F"/>
                </a:solidFill>
                <a:latin typeface="Inter Tight"/>
                <a:ea typeface="Inter Tight"/>
                <a:cs typeface="Inter Tight"/>
                <a:sym typeface="Inter Tight"/>
              </a:rPr>
              <a:t>TECHNICAL WORKFLOW</a:t>
            </a:r>
            <a:endParaRPr/>
          </a:p>
        </p:txBody>
      </p:sp>
      <p:sp>
        <p:nvSpPr>
          <p:cNvPr id="156" name="Google Shape;156;p16"/>
          <p:cNvSpPr txBox="1"/>
          <p:nvPr/>
        </p:nvSpPr>
        <p:spPr>
          <a:xfrm>
            <a:off x="914400" y="393192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Funds and rules live on Stellar, not on our server.</a:t>
            </a:r>
            <a:endParaRPr/>
          </a:p>
        </p:txBody>
      </p:sp>
      <p:sp>
        <p:nvSpPr>
          <p:cNvPr id="157" name="Google Shape;157;p16"/>
          <p:cNvSpPr txBox="1"/>
          <p:nvPr/>
        </p:nvSpPr>
        <p:spPr>
          <a:xfrm>
            <a:off x="914400" y="4709160"/>
            <a:ext cx="1161288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4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Soroban escrow: signature, expiry, one-time nonce, one claim per wallet</a:t>
            </a:r>
            <a:endParaRPr/>
          </a:p>
          <a:p>
            <a:pPr indent="-411480" lvl="0" marL="411480" marR="0" rtl="0" algn="l">
              <a:spcBef>
                <a:spcPts val="100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4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Passkey smart wallet + sponsored fees: visitors never need XLM</a:t>
            </a:r>
            <a:endParaRPr/>
          </a:p>
          <a:p>
            <a:pPr indent="-411480" lvl="0" marL="411480" marR="0" rtl="0" algn="l">
              <a:spcBef>
                <a:spcPts val="100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4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Next.js PWA + Soroban RPC events power the merchant dashboard</a:t>
            </a:r>
            <a:endParaRPr/>
          </a:p>
          <a:p>
            <a:pPr indent="-411480" lvl="0" marL="411480" marR="0" rtl="0" algn="l">
              <a:spcBef>
                <a:spcPts val="100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4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TODO: contract ID, token ID, tx links, live URL</a:t>
            </a:r>
            <a:endParaRPr/>
          </a:p>
        </p:txBody>
      </p:sp>
      <p:sp>
        <p:nvSpPr>
          <p:cNvPr id="158" name="Google Shape;158;p16"/>
          <p:cNvSpPr/>
          <p:nvPr/>
        </p:nvSpPr>
        <p:spPr>
          <a:xfrm>
            <a:off x="914400" y="7086600"/>
            <a:ext cx="10789920" cy="1051560"/>
          </a:xfrm>
          <a:prstGeom prst="roundRect">
            <a:avLst>
              <a:gd fmla="val 22000" name="adj"/>
            </a:avLst>
          </a:prstGeom>
          <a:solidFill>
            <a:srgbClr val="FFFFFF"/>
          </a:solidFill>
          <a:ln cap="flat" cmpd="sng" w="3810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365750" spcFirstLastPara="1" rIns="365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👉 Proven on testnet: </a:t>
            </a:r>
            <a:r>
              <a:rPr b="0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campaign created, real claim accepted, reused QR rejected.</a:t>
            </a:r>
            <a:endParaRPr/>
          </a:p>
        </p:txBody>
      </p:sp>
      <p:sp>
        <p:nvSpPr>
          <p:cNvPr id="159" name="Google Shape;159;p16"/>
          <p:cNvSpPr/>
          <p:nvPr/>
        </p:nvSpPr>
        <p:spPr>
          <a:xfrm>
            <a:off x="12893040" y="4023360"/>
            <a:ext cx="4480560" cy="2597771"/>
          </a:xfrm>
          <a:custGeom>
            <a:rect b="b" l="l" r="r" t="t"/>
            <a:pathLst>
              <a:path extrusionOk="0" h="2597771" w="4480560">
                <a:moveTo>
                  <a:pt x="0" y="0"/>
                </a:moveTo>
                <a:lnTo>
                  <a:pt x="0" y="1000976"/>
                </a:lnTo>
                <a:lnTo>
                  <a:pt x="2240280" y="2597771"/>
                </a:lnTo>
                <a:lnTo>
                  <a:pt x="4480560" y="1000976"/>
                </a:lnTo>
                <a:lnTo>
                  <a:pt x="4480560" y="0"/>
                </a:lnTo>
                <a:lnTo>
                  <a:pt x="2240280" y="1358467"/>
                </a:lnTo>
                <a:close/>
              </a:path>
            </a:pathLst>
          </a:custGeom>
          <a:solidFill>
            <a:srgbClr val="0F0F0F">
              <a:alpha val="7059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0" name="Google Shape;160;p16"/>
          <p:cNvSpPr/>
          <p:nvPr/>
        </p:nvSpPr>
        <p:spPr>
          <a:xfrm>
            <a:off x="12893040" y="5882315"/>
            <a:ext cx="1310802" cy="1620628"/>
          </a:xfrm>
          <a:custGeom>
            <a:rect b="b" l="l" r="r" t="t"/>
            <a:pathLst>
              <a:path extrusionOk="0" h="1620628" w="1310802">
                <a:moveTo>
                  <a:pt x="0" y="0"/>
                </a:moveTo>
                <a:lnTo>
                  <a:pt x="0" y="1620628"/>
                </a:lnTo>
                <a:lnTo>
                  <a:pt x="1310802" y="786482"/>
                </a:lnTo>
                <a:close/>
              </a:path>
            </a:pathLst>
          </a:custGeom>
          <a:solidFill>
            <a:srgbClr val="0F0F0F">
              <a:alpha val="7059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1" name="Google Shape;161;p16"/>
          <p:cNvSpPr/>
          <p:nvPr/>
        </p:nvSpPr>
        <p:spPr>
          <a:xfrm>
            <a:off x="16062797" y="5882315"/>
            <a:ext cx="1310803" cy="1620628"/>
          </a:xfrm>
          <a:custGeom>
            <a:rect b="b" l="l" r="r" t="t"/>
            <a:pathLst>
              <a:path extrusionOk="0" h="1620628" w="1310803">
                <a:moveTo>
                  <a:pt x="1310803" y="0"/>
                </a:moveTo>
                <a:lnTo>
                  <a:pt x="1310803" y="1620628"/>
                </a:lnTo>
                <a:lnTo>
                  <a:pt x="0" y="786482"/>
                </a:lnTo>
                <a:close/>
              </a:path>
            </a:pathLst>
          </a:custGeom>
          <a:solidFill>
            <a:srgbClr val="0F0F0F">
              <a:alpha val="7059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2" name="Google Shape;162;p16"/>
          <p:cNvSpPr/>
          <p:nvPr/>
        </p:nvSpPr>
        <p:spPr>
          <a:xfrm rot="5400000">
            <a:off x="15133320" y="7498079"/>
            <a:ext cx="502920" cy="502920"/>
          </a:xfrm>
          <a:prstGeom prst="triangle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3" name="Google Shape;163;p16"/>
          <p:cNvSpPr/>
          <p:nvPr/>
        </p:nvSpPr>
        <p:spPr>
          <a:xfrm rot="5400000">
            <a:off x="15611094" y="7498079"/>
            <a:ext cx="502920" cy="502920"/>
          </a:xfrm>
          <a:prstGeom prst="triangle">
            <a:avLst>
              <a:gd fmla="val 50000" name="adj"/>
            </a:avLst>
          </a:prstGeom>
          <a:solidFill>
            <a:srgbClr val="FDDA24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4" name="Google Shape;164;p16"/>
          <p:cNvSpPr/>
          <p:nvPr/>
        </p:nvSpPr>
        <p:spPr>
          <a:xfrm rot="5400000">
            <a:off x="16088867" y="7498079"/>
            <a:ext cx="502920" cy="502920"/>
          </a:xfrm>
          <a:prstGeom prst="triangle">
            <a:avLst>
              <a:gd fmla="val 50000" name="adj"/>
            </a:avLst>
          </a:prstGeom>
          <a:solidFill>
            <a:srgbClr val="FDDA24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5" name="Google Shape;165;p16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6" name="Google Shape;166;p16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descr="hm-black.png" id="167" name="Google Shape;16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859000" y="9171432"/>
            <a:ext cx="2517969" cy="4389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7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3" name="Google Shape;173;p17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05 / 05</a:t>
            </a:r>
            <a:endParaRPr/>
          </a:p>
        </p:txBody>
      </p:sp>
      <p:sp>
        <p:nvSpPr>
          <p:cNvPr id="174" name="Google Shape;174;p17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75" name="Google Shape;175;p17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 STOP</a:t>
            </a:r>
            <a:endParaRPr/>
          </a:p>
        </p:txBody>
      </p:sp>
      <p:sp>
        <p:nvSpPr>
          <p:cNvPr id="176" name="Google Shape;176;p17"/>
          <p:cNvSpPr/>
          <p:nvPr/>
        </p:nvSpPr>
        <p:spPr>
          <a:xfrm>
            <a:off x="914400" y="1417320"/>
            <a:ext cx="2651760" cy="475488"/>
          </a:xfrm>
          <a:prstGeom prst="roundRect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0F0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PITCH STEP 04 / 04</a:t>
            </a:r>
            <a:endParaRPr/>
          </a:p>
        </p:txBody>
      </p:sp>
      <p:sp>
        <p:nvSpPr>
          <p:cNvPr id="177" name="Google Shape;177;p17"/>
          <p:cNvSpPr txBox="1"/>
          <p:nvPr/>
        </p:nvSpPr>
        <p:spPr>
          <a:xfrm>
            <a:off x="914400" y="210312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0" u="none" cap="none" strike="noStrike">
                <a:solidFill>
                  <a:srgbClr val="0F0F0F"/>
                </a:solidFill>
                <a:latin typeface="Inter Tight"/>
                <a:ea typeface="Inter Tight"/>
                <a:cs typeface="Inter Tight"/>
                <a:sym typeface="Inter Tight"/>
              </a:rPr>
              <a:t>THE TEAM</a:t>
            </a:r>
            <a:endParaRPr/>
          </a:p>
        </p:txBody>
      </p:sp>
      <p:sp>
        <p:nvSpPr>
          <p:cNvPr id="178" name="Google Shape;178;p17"/>
          <p:cNvSpPr txBox="1"/>
          <p:nvPr/>
        </p:nvSpPr>
        <p:spPr>
          <a:xfrm>
            <a:off x="914400" y="393192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codingsh, blockchain developer and white hat.</a:t>
            </a:r>
            <a:endParaRPr/>
          </a:p>
        </p:txBody>
      </p:sp>
      <p:sp>
        <p:nvSpPr>
          <p:cNvPr id="179" name="Google Shape;179;p17"/>
          <p:cNvSpPr txBox="1"/>
          <p:nvPr/>
        </p:nvSpPr>
        <p:spPr>
          <a:xfrm>
            <a:off x="914400" y="4709160"/>
            <a:ext cx="1161288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4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Smart contracts, EVM security, cross-chain bridges, dApp frontends</a:t>
            </a:r>
            <a:endParaRPr/>
          </a:p>
          <a:p>
            <a:pPr indent="-411480" lvl="0" marL="411480" marR="0" rtl="0" algn="l">
              <a:spcBef>
                <a:spcPts val="100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4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Solidity, Rust, TypeScript, Zig; ENS codingsh.eth</a:t>
            </a:r>
            <a:endParaRPr/>
          </a:p>
          <a:p>
            <a:pPr indent="-411480" lvl="0" marL="411480" marR="0" rtl="0" algn="l">
              <a:spcBef>
                <a:spcPts val="100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4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Hackathon wins in 2025: 1st at Reown, Talent Protocol and Para</a:t>
            </a:r>
            <a:endParaRPr/>
          </a:p>
        </p:txBody>
      </p:sp>
      <p:sp>
        <p:nvSpPr>
          <p:cNvPr id="180" name="Google Shape;180;p17"/>
          <p:cNvSpPr/>
          <p:nvPr/>
        </p:nvSpPr>
        <p:spPr>
          <a:xfrm>
            <a:off x="914400" y="7086600"/>
            <a:ext cx="10789920" cy="1051560"/>
          </a:xfrm>
          <a:prstGeom prst="roundRect">
            <a:avLst>
              <a:gd fmla="val 22000" name="adj"/>
            </a:avLst>
          </a:prstGeom>
          <a:solidFill>
            <a:srgbClr val="FFFFFF"/>
          </a:solidFill>
          <a:ln cap="flat" cmpd="sng" w="3810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365750" spcFirstLastPara="1" rIns="365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👉 Why us: </a:t>
            </a:r>
            <a:r>
              <a:rPr b="0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 contract-security builder shipped contract, wallet and app.</a:t>
            </a:r>
            <a:endParaRPr/>
          </a:p>
        </p:txBody>
      </p:sp>
      <p:sp>
        <p:nvSpPr>
          <p:cNvPr id="184" name="Google Shape;184;p17"/>
          <p:cNvSpPr/>
          <p:nvPr/>
        </p:nvSpPr>
        <p:spPr>
          <a:xfrm rot="5400000">
            <a:off x="15133320" y="7498079"/>
            <a:ext cx="502920" cy="502920"/>
          </a:xfrm>
          <a:prstGeom prst="triangle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5" name="Google Shape;185;p17"/>
          <p:cNvSpPr/>
          <p:nvPr/>
        </p:nvSpPr>
        <p:spPr>
          <a:xfrm rot="5400000">
            <a:off x="15611094" y="7498079"/>
            <a:ext cx="502920" cy="502920"/>
          </a:xfrm>
          <a:prstGeom prst="triangle">
            <a:avLst>
              <a:gd fmla="val 50000" name="adj"/>
            </a:avLst>
          </a:prstGeom>
          <a:solidFill>
            <a:srgbClr val="FDDA24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6" name="Google Shape;186;p17"/>
          <p:cNvSpPr/>
          <p:nvPr/>
        </p:nvSpPr>
        <p:spPr>
          <a:xfrm rot="5400000">
            <a:off x="16088867" y="7498079"/>
            <a:ext cx="502920" cy="502920"/>
          </a:xfrm>
          <a:prstGeom prst="triangle">
            <a:avLst>
              <a:gd fmla="val 50000" name="adj"/>
            </a:avLst>
          </a:prstGeom>
          <a:solidFill>
            <a:srgbClr val="FDDA24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7" name="Google Shape;187;p17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8" name="Google Shape;188;p17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descr="hm-black.png" id="189" name="Google Shape;189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859000" y="9171432"/>
            <a:ext cx="2517969" cy="438912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" name="Team photo codingsh" descr="Photo of codingsh"/>
          <p:cNvPicPr preferRelativeResize="0"/>
          <p:nvPr/>
        </p:nvPicPr>
        <p:blipFill>
          <a:blip r:embed="rId99"/>
          <a:stretch>
            <a:fillRect/>
          </a:stretch>
        </p:blipFill>
        <p:spPr>
          <a:xfrm>
            <a:off x="14173200" y="3931920"/>
            <a:ext cx="3200400" cy="3200400"/>
          </a:xfrm>
          <a:prstGeom prst="ellipse">
            <a:avLst/>
          </a:prstGeom>
          <a:ln w="38100">
            <a:solidFill>
              <a:srgbClr val="FDDA24"/>
            </a:solidFill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