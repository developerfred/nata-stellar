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image/jpeg" Extension="jp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Instrument Sans"/>
      <p:regular r:id="rId11"/>
      <p:bold r:id="rId12"/>
      <p:italic r:id="rId13"/>
      <p:boldItalic r:id="rId14"/>
    </p:embeddedFont>
    <p:embeddedFont>
      <p:font typeface="Inter Tight"/>
      <p:regular r:id="rId15"/>
      <p:bold r:id="rId16"/>
      <p:italic r:id="rId17"/>
      <p:boldItalic r:id="rId18"/>
    </p:embeddedFont>
    <p:embeddedFont>
      <p:font typeface="JetBrains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JetBrainsMono-bold.fntdata"/><Relationship Id="rId11" Type="http://schemas.openxmlformats.org/officeDocument/2006/relationships/font" Target="fonts/InstrumentSans-regular.fntdata"/><Relationship Id="rId22" Type="http://schemas.openxmlformats.org/officeDocument/2006/relationships/font" Target="fonts/JetBrainsMono-boldItalic.fntdata"/><Relationship Id="rId10" Type="http://schemas.openxmlformats.org/officeDocument/2006/relationships/slide" Target="slides/slide5.xml"/><Relationship Id="rId21" Type="http://schemas.openxmlformats.org/officeDocument/2006/relationships/font" Target="fonts/JetBrainsMono-italic.fntdata"/><Relationship Id="rId13" Type="http://schemas.openxmlformats.org/officeDocument/2006/relationships/font" Target="fonts/InstrumentSans-italic.fntdata"/><Relationship Id="rId12" Type="http://schemas.openxmlformats.org/officeDocument/2006/relationships/font" Target="fonts/InstrumentSa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Tight-regular.fntdata"/><Relationship Id="rId14" Type="http://schemas.openxmlformats.org/officeDocument/2006/relationships/font" Target="fonts/InstrumentSans-boldItalic.fntdata"/><Relationship Id="rId17" Type="http://schemas.openxmlformats.org/officeDocument/2006/relationships/font" Target="fonts/InterTight-italic.fntdata"/><Relationship Id="rId16" Type="http://schemas.openxmlformats.org/officeDocument/2006/relationships/font" Target="fonts/InterTigh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JetBrainsMono-regular.fntdata"/><Relationship Id="rId6" Type="http://schemas.openxmlformats.org/officeDocument/2006/relationships/slide" Target="slides/slide1.xml"/><Relationship Id="rId18" Type="http://schemas.openxmlformats.org/officeDocument/2006/relationships/font" Target="fonts/InterTigh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Inter Tight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Inter Tight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Inter Tight"/>
              <a:buNone/>
              <a:defRPr b="0" i="0" sz="4400" u="none" cap="none" strike="noStrike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99" Type="http://schemas.openxmlformats.org/officeDocument/2006/relationships/image" Target="../media/team-codingsh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0F0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777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10058400" y="7772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01 / 05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914400" y="1600200"/>
            <a:ext cx="3291840" cy="475488"/>
          </a:xfrm>
          <a:prstGeom prst="roundRect">
            <a:avLst>
              <a:gd fmla="val 50000" name="adj"/>
            </a:avLst>
          </a:prstGeom>
          <a:noFill/>
          <a:ln cap="flat" cmpd="sng" w="1905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PAY-PER-VISIT · STELLAR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14400" y="2514600"/>
            <a:ext cx="1097280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>NATA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800" u="none" cap="none" strike="noStrike">
                <a:solidFill>
                  <a:srgbClr val="FDDA24"/>
                </a:solidFill>
                <a:latin typeface="Inter Tight"/>
                <a:ea typeface="Inter Tight"/>
                <a:cs typeface="Inter Tight"/>
                <a:sym typeface="Inter Tight"/>
              </a:rPr>
              <a:t>ON STELLAR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12435840" y="2103120"/>
            <a:ext cx="4937760" cy="2862850"/>
          </a:xfrm>
          <a:custGeom>
            <a:rect b="b" l="l" r="r" t="t"/>
            <a:pathLst>
              <a:path extrusionOk="0" h="2862850" w="4937760">
                <a:moveTo>
                  <a:pt x="0" y="0"/>
                </a:moveTo>
                <a:lnTo>
                  <a:pt x="0" y="1103116"/>
                </a:lnTo>
                <a:lnTo>
                  <a:pt x="2468880" y="2862850"/>
                </a:lnTo>
                <a:lnTo>
                  <a:pt x="4937760" y="1103116"/>
                </a:lnTo>
                <a:lnTo>
                  <a:pt x="4937760" y="0"/>
                </a:lnTo>
                <a:lnTo>
                  <a:pt x="2468880" y="1497086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12435840" y="4151765"/>
            <a:ext cx="1444557" cy="1785998"/>
          </a:xfrm>
          <a:custGeom>
            <a:rect b="b" l="l" r="r" t="t"/>
            <a:pathLst>
              <a:path extrusionOk="0" h="1785998" w="1444557">
                <a:moveTo>
                  <a:pt x="0" y="0"/>
                </a:moveTo>
                <a:lnTo>
                  <a:pt x="0" y="1785998"/>
                </a:lnTo>
                <a:lnTo>
                  <a:pt x="1444557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15929042" y="4151765"/>
            <a:ext cx="1444558" cy="1785998"/>
          </a:xfrm>
          <a:custGeom>
            <a:rect b="b" l="l" r="r" t="t"/>
            <a:pathLst>
              <a:path extrusionOk="0" h="1785998" w="1444558">
                <a:moveTo>
                  <a:pt x="1444558" y="0"/>
                </a:moveTo>
                <a:lnTo>
                  <a:pt x="1444558" y="1785998"/>
                </a:lnTo>
                <a:lnTo>
                  <a:pt x="0" y="866734"/>
                </a:lnTo>
                <a:close/>
              </a:path>
            </a:pathLst>
          </a:custGeom>
          <a:solidFill>
            <a:srgbClr val="FDDA24">
              <a:alpha val="2196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hm-white.png" id="91" name="Google Shape;91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6812280"/>
            <a:ext cx="4721192" cy="82296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/>
          <p:nvPr/>
        </p:nvSpPr>
        <p:spPr>
          <a:xfrm>
            <a:off x="5989320" y="6766560"/>
            <a:ext cx="18288" cy="914400"/>
          </a:xfrm>
          <a:prstGeom prst="rect">
            <a:avLst/>
          </a:prstGeom>
          <a:solidFill>
            <a:srgbClr val="4A4A4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descr="guava-white.png" id="93" name="Google Shape;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5080" y="6967728"/>
            <a:ext cx="2159633" cy="512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tellar-white.png" id="94" name="Google Shape;94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23960" y="6903720"/>
            <a:ext cx="2483581" cy="621792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/>
          <p:nvPr/>
        </p:nvSpPr>
        <p:spPr>
          <a:xfrm rot="5400000">
            <a:off x="14904720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6" name="Google Shape;96;p13"/>
          <p:cNvSpPr/>
          <p:nvPr/>
        </p:nvSpPr>
        <p:spPr>
          <a:xfrm rot="5400000">
            <a:off x="15599664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7" name="Google Shape;97;p13"/>
          <p:cNvSpPr/>
          <p:nvPr/>
        </p:nvSpPr>
        <p:spPr>
          <a:xfrm rot="5400000">
            <a:off x="16294608" y="6858000"/>
            <a:ext cx="731520" cy="7315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914400" y="8641080"/>
            <a:ext cx="16459200" cy="13716"/>
          </a:xfrm>
          <a:prstGeom prst="rect">
            <a:avLst/>
          </a:prstGeom>
          <a:solidFill>
            <a:srgbClr val="3A3A3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914400" y="896112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October 2026</a:t>
            </a:r>
            <a:endParaRPr/>
          </a:p>
        </p:txBody>
      </p:sp>
      <p:sp>
        <p:nvSpPr>
          <p:cNvPr id="100" name="Google Shape;100;p13"/>
          <p:cNvSpPr txBox="1"/>
          <p:nvPr/>
        </p:nvSpPr>
        <p:spPr>
          <a:xfrm>
            <a:off x="64008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#HackMeridian26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1887200" y="89611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7A7A7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02 / 05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PMF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01 / 04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SOLUTION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Pay only when a real visit is proven at the counter.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Merchant locks a USDC budget in a Soroban contract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Counter shows a QR that rotates every 20 s, ed25519-signed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Visitor scans with a passkey wallet: paid in seconds, no XLM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Why it wins: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contract, not our backend, decides who gets paid.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6" name="Google Shape;116;p14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7" name="Google Shape;117;p14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8" name="Google Shape;118;p14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19" name="Google Shape;119;p14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0" name="Google Shape;120;p14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23" name="Google Shape;12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5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03 / 05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TECHNICAL WORKFLOW</a:t>
            </a: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02 / 04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PROBLEM &amp; PMF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Local marketing cannot prove anyone walked in.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Ads and clicks pay for reach; merchants cannot measure visits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Loyalty is locked in one shop; card cashback is slow and costly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Pays: local merchants and event organizers. Earns: tourists and attendees</a:t>
            </a: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Why now: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stablecoins and passkeys make instant, gasless cashback real.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0" name="Google Shape;140;p15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1" name="Google Shape;141;p15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2" name="Google Shape;142;p15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3" name="Google Shape;143;p15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44" name="Google Shape;144;p15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45" name="Google Shape;14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6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04 / 05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NEXT ▸ THE TEAM</a:t>
            </a:r>
            <a:endParaRPr/>
          </a:p>
        </p:txBody>
      </p:sp>
      <p:sp>
        <p:nvSpPr>
          <p:cNvPr id="154" name="Google Shape;154;p16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03 / 04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TECHNICAL WORKFLOW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Funds and rules live on Stellar, not on our server.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Soroban escrow: signature, expiry, one-time nonce, one claim per wallet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Passkey smart wallet + sponsored fees: visitors never need XLM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Contract CBLE7U…KSXV and vUSD token CBR455…2PRD on testnet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TODO: live URL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Proven on testnet: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claim paid (tx 82f51bda…b46e); reused QR refused, no fee spent.</a:t>
            </a:r>
            <a:endParaRPr/>
          </a:p>
        </p:txBody>
      </p:sp>
      <p:sp>
        <p:nvSpPr>
          <p:cNvPr id="159" name="Google Shape;159;p16"/>
          <p:cNvSpPr/>
          <p:nvPr/>
        </p:nvSpPr>
        <p:spPr>
          <a:xfrm>
            <a:off x="12893040" y="4023360"/>
            <a:ext cx="4480560" cy="2597771"/>
          </a:xfrm>
          <a:custGeom>
            <a:rect b="b" l="l" r="r" t="t"/>
            <a:pathLst>
              <a:path extrusionOk="0" h="2597771" w="4480560">
                <a:moveTo>
                  <a:pt x="0" y="0"/>
                </a:moveTo>
                <a:lnTo>
                  <a:pt x="0" y="1000976"/>
                </a:lnTo>
                <a:lnTo>
                  <a:pt x="2240280" y="2597771"/>
                </a:lnTo>
                <a:lnTo>
                  <a:pt x="4480560" y="1000976"/>
                </a:lnTo>
                <a:lnTo>
                  <a:pt x="4480560" y="0"/>
                </a:lnTo>
                <a:lnTo>
                  <a:pt x="2240280" y="1358467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12893040" y="5882315"/>
            <a:ext cx="1310802" cy="1620628"/>
          </a:xfrm>
          <a:custGeom>
            <a:rect b="b" l="l" r="r" t="t"/>
            <a:pathLst>
              <a:path extrusionOk="0" h="1620628" w="1310802">
                <a:moveTo>
                  <a:pt x="0" y="0"/>
                </a:moveTo>
                <a:lnTo>
                  <a:pt x="0" y="1620628"/>
                </a:lnTo>
                <a:lnTo>
                  <a:pt x="1310802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16062797" y="5882315"/>
            <a:ext cx="1310803" cy="1620628"/>
          </a:xfrm>
          <a:custGeom>
            <a:rect b="b" l="l" r="r" t="t"/>
            <a:pathLst>
              <a:path extrusionOk="0" h="1620628" w="1310803">
                <a:moveTo>
                  <a:pt x="1310803" y="0"/>
                </a:moveTo>
                <a:lnTo>
                  <a:pt x="1310803" y="1620628"/>
                </a:lnTo>
                <a:lnTo>
                  <a:pt x="0" y="786482"/>
                </a:lnTo>
                <a:close/>
              </a:path>
            </a:pathLst>
          </a:custGeom>
          <a:solidFill>
            <a:srgbClr val="0F0F0F">
              <a:alpha val="7059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2" name="Google Shape;162;p16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3" name="Google Shape;163;p16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4" name="Google Shape;164;p16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5" name="Google Shape;165;p16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67" name="Google Shape;16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6F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7"/>
          <p:cNvSpPr/>
          <p:nvPr/>
        </p:nvSpPr>
        <p:spPr>
          <a:xfrm>
            <a:off x="0" y="0"/>
            <a:ext cx="18288000" cy="73152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73" name="Google Shape;173;p17"/>
          <p:cNvSpPr txBox="1"/>
          <p:nvPr/>
        </p:nvSpPr>
        <p:spPr>
          <a:xfrm>
            <a:off x="9144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DDA24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PLATFORM 05 / 05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5486400" y="201168"/>
            <a:ext cx="73152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HACKMERIDIAN 2026 · LISBON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12801600" y="20116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STOP</a:t>
            </a:r>
            <a:endParaRPr/>
          </a:p>
        </p:txBody>
      </p:sp>
      <p:sp>
        <p:nvSpPr>
          <p:cNvPr id="176" name="Google Shape;176;p17"/>
          <p:cNvSpPr/>
          <p:nvPr/>
        </p:nvSpPr>
        <p:spPr>
          <a:xfrm>
            <a:off x="914400" y="1417320"/>
            <a:ext cx="2651760" cy="475488"/>
          </a:xfrm>
          <a:prstGeom prst="roundRect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F0F0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PITCH STEP 04 / 04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914400" y="2103120"/>
            <a:ext cx="1645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0" u="none" cap="none" strike="noStrike">
                <a:solidFill>
                  <a:srgbClr val="0F0F0F"/>
                </a:solidFill>
                <a:latin typeface="Inter Tight"/>
                <a:ea typeface="Inter Tight"/>
                <a:cs typeface="Inter Tight"/>
                <a:sym typeface="Inter Tight"/>
              </a:rPr>
              <a:t>THE TEAM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914400" y="393192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codingsh, blockchain developer and white hat.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914400" y="4709160"/>
            <a:ext cx="1161288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1480" lvl="0" marL="411480" marR="0" rtl="0" algn="l">
              <a:spcBef>
                <a:spcPts val="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Smart contracts, EVM security, cross-chain bridges, dApp frontends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Solidity, Rust, TypeScript, Zig; ENS codingsh.eth</a:t>
            </a:r>
            <a:endParaRPr/>
          </a:p>
          <a:p>
            <a:pPr indent="-411480" lvl="0" marL="411480" marR="0" rtl="0" algn="l">
              <a:spcBef>
                <a:spcPts val="1000"/>
              </a:spcBef>
              <a:spcAft>
                <a:spcPts val="0"/>
              </a:spcAft>
              <a:buClr>
                <a:srgbClr val="0F0F0F"/>
              </a:buClr>
              <a:buSzPts val="2400"/>
              <a:buFont typeface="Arial"/>
              <a:buChar char="►"/>
            </a:pPr>
            <a:r>
              <a:rPr b="0" i="0" lang="en-US" sz="2400" u="none" cap="none" strike="noStrike">
                <a:solidFill>
                  <a:srgbClr val="2A2A2A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Hackathon wins in 2025: 1st at Reown, Talent Protocol and Para</a:t>
            </a:r>
            <a:endParaRPr/>
          </a:p>
        </p:txBody>
      </p:sp>
      <p:sp>
        <p:nvSpPr>
          <p:cNvPr id="180" name="Google Shape;180;p17"/>
          <p:cNvSpPr/>
          <p:nvPr/>
        </p:nvSpPr>
        <p:spPr>
          <a:xfrm>
            <a:off x="914400" y="7086600"/>
            <a:ext cx="10789920" cy="1051560"/>
          </a:xfrm>
          <a:prstGeom prst="roundRect">
            <a:avLst>
              <a:gd fmla="val 22000" name="adj"/>
            </a:avLst>
          </a:prstGeom>
          <a:solidFill>
            <a:srgbClr val="FFFFFF"/>
          </a:solidFill>
          <a:ln cap="flat" cmpd="sng" w="38100">
            <a:solidFill>
              <a:srgbClr val="FDDA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365750" spcFirstLastPara="1" rIns="36575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👉 Why us: </a:t>
            </a:r>
            <a:r>
              <a:rPr b="0" i="0" lang="en-US" sz="2400" u="none" cap="none" strike="noStrike">
                <a:solidFill>
                  <a:srgbClr val="0F0F0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contract-security builder shipped contract, wallet and app.</a:t>
            </a:r>
            <a:endParaRPr/>
          </a:p>
        </p:txBody>
      </p:sp>
      <p:sp>
        <p:nvSpPr>
          <p:cNvPr id="184" name="Google Shape;184;p17"/>
          <p:cNvSpPr/>
          <p:nvPr/>
        </p:nvSpPr>
        <p:spPr>
          <a:xfrm rot="5400000">
            <a:off x="15133320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5" name="Google Shape;185;p17"/>
          <p:cNvSpPr/>
          <p:nvPr/>
        </p:nvSpPr>
        <p:spPr>
          <a:xfrm rot="5400000">
            <a:off x="15611094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6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6" name="Google Shape;186;p17"/>
          <p:cNvSpPr/>
          <p:nvPr/>
        </p:nvSpPr>
        <p:spPr>
          <a:xfrm rot="5400000">
            <a:off x="16088867" y="7498079"/>
            <a:ext cx="502920" cy="502920"/>
          </a:xfrm>
          <a:prstGeom prst="triangle">
            <a:avLst>
              <a:gd fmla="val 50000" name="adj"/>
            </a:avLst>
          </a:prstGeom>
          <a:solidFill>
            <a:srgbClr val="FDDA24">
              <a:alpha val="30196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914400" y="8915400"/>
            <a:ext cx="16459200" cy="13716"/>
          </a:xfrm>
          <a:prstGeom prst="rect">
            <a:avLst/>
          </a:prstGeom>
          <a:solidFill>
            <a:srgbClr val="DFDD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sp>
        <p:nvSpPr>
          <p:cNvPr id="188" name="Google Shape;188;p17"/>
          <p:cNvSpPr txBox="1"/>
          <p:nvPr/>
        </p:nvSpPr>
        <p:spPr>
          <a:xfrm>
            <a:off x="914400" y="9253728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5C5C5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© 2026 HackMeridian · Lisbon  ·  #HackMeridian26</a:t>
            </a:r>
            <a:endParaRPr/>
          </a:p>
        </p:txBody>
      </p:sp>
      <p:pic>
        <p:nvPicPr>
          <p:cNvPr descr="hm-black.png" id="189" name="Google Shape;18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0" y="9171432"/>
            <a:ext cx="2517969" cy="438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Team photo codingsh" descr="Photo of codingsh"/>
          <p:cNvPicPr preferRelativeResize="0"/>
          <p:nvPr/>
        </p:nvPicPr>
        <p:blipFill>
          <a:blip r:embed="rId99"/>
          <a:stretch>
            <a:fillRect/>
          </a:stretch>
        </p:blipFill>
        <p:spPr>
          <a:xfrm>
            <a:off x="14173200" y="3931920"/>
            <a:ext cx="3200400" cy="3200400"/>
          </a:xfrm>
          <a:prstGeom prst="ellipse">
            <a:avLst/>
          </a:prstGeom>
          <a:ln w="38100">
            <a:solidFill>
              <a:srgbClr val="FDDA24"/>
            </a:solidFill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